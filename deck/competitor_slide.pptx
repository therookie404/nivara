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B44A"/>
                </a:solidFill>
                <a:latin typeface="Calibri"/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AA7BD"/>
                </a:solidFill>
                <a:latin typeface="Calibri"/>
              </a:rPr>
              <a:t>Everyone is reactive, lender-side, or post-crisis. Nobody owns pre-crisis early warning for the borrower.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1247120" cy="478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554480"/>
                <a:gridCol w="3566160"/>
                <a:gridCol w="3657600"/>
              </a:tblGrid>
              <a:tr h="47823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1A2E"/>
                          </a:solidFill>
                          <a:latin typeface="Calibri"/>
                        </a:rPr>
                        <a:t>Competitor</a:t>
                      </a:r>
                    </a:p>
                  </a:txBody>
                  <a:tcPr anchor="t">
                    <a:solidFill>
                      <a:srgbClr val="E8B4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1A2E"/>
                          </a:solidFill>
                          <a:latin typeface="Calibri"/>
                        </a:rPr>
                        <a:t>Who it's for</a:t>
                      </a:r>
                    </a:p>
                  </a:txBody>
                  <a:tcPr anchor="t">
                    <a:solidFill>
                      <a:srgbClr val="E8B4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1A2E"/>
                          </a:solidFill>
                          <a:latin typeface="Calibri"/>
                        </a:rPr>
                        <a:t>What they do</a:t>
                      </a:r>
                    </a:p>
                  </a:txBody>
                  <a:tcPr anchor="t">
                    <a:solidFill>
                      <a:srgbClr val="E8B4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1A2E"/>
                          </a:solidFill>
                          <a:latin typeface="Calibri"/>
                        </a:rPr>
                        <a:t>Gap vs NIVARA</a:t>
                      </a:r>
                    </a:p>
                  </a:txBody>
                  <a:tcPr anchor="t">
                    <a:solidFill>
                      <a:srgbClr val="E8B44A"/>
                    </a:solidFill>
                  </a:tcPr>
                </a:tc>
              </a:tr>
              <a:tr h="478231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E8EDF3"/>
                          </a:solidFill>
                          <a:latin typeface="Calibri"/>
                        </a:rPr>
                        <a:t>SuperMoney · Sense AI (US)</a:t>
                      </a:r>
                    </a:p>
                  </a:txBody>
                  <a:tcPr anchor="t"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Consumers</a:t>
                      </a:r>
                    </a:p>
                  </a:txBody>
                  <a:tcPr anchor="t"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AI assistant that knows your debt, rates &amp; credit; tells you what to do next</a:t>
                      </a:r>
                    </a:p>
                  </a:txBody>
                  <a:tcPr anchor="t"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US-centric, needs linked bank accounts; no stress-trajectory forecast or recovery simulator</a:t>
                      </a:r>
                    </a:p>
                  </a:txBody>
                  <a:tcPr anchor="t">
                    <a:solidFill>
                      <a:srgbClr val="16263F"/>
                    </a:solidFill>
                  </a:tcPr>
                </a:tc>
              </a:tr>
              <a:tr h="478231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E8EDF3"/>
                          </a:solidFill>
                          <a:latin typeface="Calibri"/>
                        </a:rPr>
                        <a:t>PsyFi (Canada)</a:t>
                      </a:r>
                    </a:p>
                  </a:txBody>
                  <a:tcPr anchor="t"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Consumers</a:t>
                      </a:r>
                    </a:p>
                  </a:txBody>
                  <a:tcPr anchor="t"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Behavioral-finance coaching to reduce money stress</a:t>
                      </a:r>
                    </a:p>
                  </a:txBody>
                  <a:tcPr anchor="t"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Habit psychology, not financial prediction; no early-warning model</a:t>
                      </a:r>
                    </a:p>
                  </a:txBody>
                  <a:tcPr anchor="t">
                    <a:solidFill>
                      <a:srgbClr val="0E1A2E"/>
                    </a:solidFill>
                  </a:tcPr>
                </a:tc>
              </a:tr>
              <a:tr h="478231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E8EDF3"/>
                          </a:solidFill>
                          <a:latin typeface="Calibri"/>
                        </a:rPr>
                        <a:t>AI liquidity tools
(Float / Pulse et al.)</a:t>
                      </a:r>
                    </a:p>
                  </a:txBody>
                  <a:tcPr anchor="t"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Small businesses</a:t>
                      </a:r>
                    </a:p>
                  </a:txBody>
                  <a:tcPr anchor="t"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Cash-flow forecasting, what-if scenarios, shortfall alerts via Xero/QuickBooks</a:t>
                      </a:r>
                    </a:p>
                  </a:txBody>
                  <a:tcPr anchor="t"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Western SMEs, accounting-linked; no explainable risk drivers for the owner</a:t>
                      </a:r>
                    </a:p>
                  </a:txBody>
                  <a:tcPr anchor="t">
                    <a:solidFill>
                      <a:srgbClr val="16263F"/>
                    </a:solidFill>
                  </a:tcPr>
                </a:tc>
              </a:tr>
              <a:tr h="478231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E8EDF3"/>
                          </a:solidFill>
                          <a:latin typeface="Calibri"/>
                        </a:rPr>
                        <a:t>i-Mandate — Yes Bank + Open (IN)</a:t>
                      </a:r>
                    </a:p>
                  </a:txBody>
                  <a:tcPr anchor="t"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Consumers / SMEs</a:t>
                      </a:r>
                    </a:p>
                  </a:txBody>
                  <a:tcPr anchor="t"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Predicts recurring-payment failures before debit; offers alternatives</a:t>
                      </a:r>
                    </a:p>
                  </a:txBody>
                  <a:tcPr anchor="t"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Single feature (payments only); no holistic stress picture</a:t>
                      </a:r>
                    </a:p>
                  </a:txBody>
                  <a:tcPr anchor="t">
                    <a:solidFill>
                      <a:srgbClr val="0E1A2E"/>
                    </a:solidFill>
                  </a:tcPr>
                </a:tc>
              </a:tr>
              <a:tr h="478231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E8EDF3"/>
                          </a:solidFill>
                          <a:latin typeface="Calibri"/>
                        </a:rPr>
                        <a:t>FinRadar — Finnable (IN)</a:t>
                      </a:r>
                    </a:p>
                  </a:txBody>
                  <a:tcPr anchor="t"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Lenders</a:t>
                      </a:r>
                    </a:p>
                  </a:txBody>
                  <a:tcPr anchor="t"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Early-warning system predicting borrower defaults from cash-flow patterns</a:t>
                      </a:r>
                    </a:p>
                  </a:txBody>
                  <a:tcPr anchor="t"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Built for lenders, not the borrower</a:t>
                      </a:r>
                    </a:p>
                  </a:txBody>
                  <a:tcPr anchor="t">
                    <a:solidFill>
                      <a:srgbClr val="16263F"/>
                    </a:solidFill>
                  </a:tcPr>
                </a:tc>
              </a:tr>
              <a:tr h="478231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E8EDF3"/>
                          </a:solidFill>
                          <a:latin typeface="Calibri"/>
                        </a:rPr>
                        <a:t>Riverline AI (IN)</a:t>
                      </a:r>
                    </a:p>
                  </a:txBody>
                  <a:tcPr anchor="t"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Distressed borrowers</a:t>
                      </a:r>
                    </a:p>
                  </a:txBody>
                  <a:tcPr anchor="t"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AI debt counsellors; manages ₹100 cr+/month in bad loans</a:t>
                      </a:r>
                    </a:p>
                  </a:txBody>
                  <a:tcPr anchor="t"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Starts after default — NIVARA prevents what they treat</a:t>
                      </a:r>
                    </a:p>
                  </a:txBody>
                  <a:tcPr anchor="t">
                    <a:solidFill>
                      <a:srgbClr val="0E1A2E"/>
                    </a:solidFill>
                  </a:tcPr>
                </a:tc>
              </a:tr>
              <a:tr h="478231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E8EDF3"/>
                          </a:solidFill>
                          <a:latin typeface="Calibri"/>
                        </a:rPr>
                        <a:t>SpoctoX / CreditNirvana /
Rezolv (IN)</a:t>
                      </a:r>
                    </a:p>
                  </a:txBody>
                  <a:tcPr anchor="t"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Lenders</a:t>
                      </a:r>
                    </a:p>
                  </a:txBody>
                  <a:tcPr anchor="t"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AI collections &amp; borrower-behavior prediction</a:t>
                      </a:r>
                    </a:p>
                  </a:txBody>
                  <a:tcPr anchor="t"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Collections, not prevention; lender-side</a:t>
                      </a:r>
                    </a:p>
                  </a:txBody>
                  <a:tcPr anchor="t">
                    <a:solidFill>
                      <a:srgbClr val="16263F"/>
                    </a:solidFill>
                  </a:tcPr>
                </a:tc>
              </a:tr>
              <a:tr h="478231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E8EDF3"/>
                          </a:solidFill>
                          <a:latin typeface="Calibri"/>
                        </a:rPr>
                        <a:t>Credit Coach (BharatPe) /
TopScore (Yubi) (IN)</a:t>
                      </a:r>
                    </a:p>
                  </a:txBody>
                  <a:tcPr anchor="t"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Consumers / merchants</a:t>
                      </a:r>
                    </a:p>
                  </a:txBody>
                  <a:tcPr anchor="t"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Credit-health guidance, multilingual</a:t>
                      </a:r>
                    </a:p>
                  </a:txBody>
                  <a:tcPr anchor="t">
                    <a:solidFill>
                      <a:srgbClr val="0E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Education, not prediction; no forward-looking risk</a:t>
                      </a:r>
                    </a:p>
                  </a:txBody>
                  <a:tcPr anchor="t">
                    <a:solidFill>
                      <a:srgbClr val="0E1A2E"/>
                    </a:solidFill>
                  </a:tcPr>
                </a:tc>
              </a:tr>
              <a:tr h="478233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E8EDF3"/>
                          </a:solidFill>
                          <a:latin typeface="Calibri"/>
                        </a:rPr>
                        <a:t>Mint / Credit Karma</a:t>
                      </a:r>
                    </a:p>
                  </a:txBody>
                  <a:tcPr anchor="t"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Consumers</a:t>
                      </a:r>
                    </a:p>
                  </a:txBody>
                  <a:tcPr anchor="t"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Reactive dashboards &amp; credit scores</a:t>
                      </a:r>
                    </a:p>
                  </a:txBody>
                  <a:tcPr anchor="t"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EDF3"/>
                          </a:solidFill>
                          <a:latin typeface="Calibri"/>
                        </a:rPr>
                        <a:t>Record the past; flag problems after they occur</a:t>
                      </a:r>
                    </a:p>
                  </a:txBody>
                  <a:tcPr anchor="t">
                    <a:solidFill>
                      <a:srgbClr val="16263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B44A"/>
                </a:solidFill>
                <a:latin typeface="Calibri"/>
              </a:rPr>
              <a:t>NIVARA’s edge: trajectory-based prediction × SHAP explanations × what-if recovery simulation — for India’s gig &amp; self-employed.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